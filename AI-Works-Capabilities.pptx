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71" r:id="rId3"/>
    <p:sldId id="278" r:id="rId4"/>
    <p:sldId id="279" r:id="rId5"/>
    <p:sldId id="280" r:id="rId6"/>
    <p:sldId id="275" r:id="rId7"/>
    <p:sldId id="281" r:id="rId8"/>
    <p:sldId id="27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96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84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50000">
              <a:srgbClr val="12253A"/>
            </a:gs>
            <a:gs pos="100000">
              <a:srgbClr val="0A1628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 Deco"/>
          <p:cNvSpPr/>
          <p:nvPr userDrawn="1"/>
        </p:nvSpPr>
        <p:spPr>
          <a:xfrm>
            <a:off x="0" y="4114800"/>
            <a:ext cx="2743200" cy="742950"/>
          </a:xfrm>
          <a:custGeom>
            <a:avLst/>
            <a:gdLst/>
            <a:ahLst/>
            <a:cxnLst/>
            <a:rect l="0" t="0" r="0" b="0"/>
            <a:pathLst>
              <a:path w="2743200" h="742950">
                <a:moveTo>
                  <a:pt x="0" y="742950"/>
                </a:moveTo>
                <a:lnTo>
                  <a:pt x="2743200" y="742950"/>
                </a:lnTo>
                <a:lnTo>
                  <a:pt x="0" y="285750"/>
                </a:lnTo>
                <a:close/>
              </a:path>
            </a:pathLst>
          </a:custGeom>
          <a:gradFill>
            <a:gsLst>
              <a:gs pos="0">
                <a:srgbClr val="5B8DEF">
                  <a:alpha val="12000"/>
                </a:srgbClr>
              </a:gs>
              <a:gs pos="100000">
                <a:srgbClr val="7C5CFC">
                  <a:alpha val="6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 Accent Line"/>
          <p:cNvSpPr/>
          <p:nvPr userDrawn="1"/>
        </p:nvSpPr>
        <p:spPr>
          <a:xfrm>
            <a:off x="457200" y="0"/>
            <a:ext cx="3657600" cy="19050"/>
          </a:xfrm>
          <a:prstGeom prst="rect">
            <a:avLst/>
          </a:prstGeo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0EDE8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B8C4D4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B8C4D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B8C4D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B8C4D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B8C4D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B8C4D4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B8C4D4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B8C4D4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B8C4D4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B8C4D4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100"/>
          </a:xfr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EDE8"/>
                </a:solidFill>
                <a:latin typeface="Raleway"/>
              </a:rPr>
              <a:t>AI Works</a:t>
            </a:r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D0E8"/>
                </a:solidFill>
                <a:latin typeface="Inter"/>
              </a:rPr>
              <a:t>Intelligent Solutions for the Modern Enterprise</a:t>
            </a:r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8DEF"/>
                </a:solidFill>
                <a:latin typeface="Inter"/>
              </a:rPr>
              <a:t>Audiobook Services</a:t>
            </a:r>
            <a:r>
              <a:rPr lang="en-US" sz="1400" dirty="0">
                <a:solidFill>
                  <a:srgbClr val="6A7A92"/>
                </a:solidFill>
                <a:latin typeface="Inter"/>
              </a:rPr>
              <a:t>  •  </a:t>
            </a:r>
            <a:r>
              <a:rPr lang="en-US" sz="1400" dirty="0">
                <a:solidFill>
                  <a:srgbClr val="7C5CFC"/>
                </a:solidFill>
                <a:latin typeface="Inter"/>
              </a:rPr>
              <a:t>AI Agents</a:t>
            </a:r>
            <a:r>
              <a:rPr lang="en-US" sz="1400" dirty="0">
                <a:solidFill>
                  <a:srgbClr val="6A7A92"/>
                </a:solidFill>
                <a:latin typeface="Inter"/>
              </a:rPr>
              <a:t>  •  </a:t>
            </a:r>
            <a:r>
              <a:rPr lang="en-US" sz="1400" dirty="0">
                <a:solidFill>
                  <a:srgbClr val="00D4AA"/>
                </a:solidFill>
                <a:latin typeface="Inter"/>
              </a:rPr>
              <a:t>Workflow Automation</a:t>
            </a:r>
            <a:r>
              <a:rPr lang="en-US" sz="1400" dirty="0">
                <a:solidFill>
                  <a:srgbClr val="6A7A92"/>
                </a:solidFill>
                <a:latin typeface="Inter"/>
              </a:rPr>
              <a:t>  •  </a:t>
            </a:r>
            <a:r>
              <a:rPr lang="en-US" sz="1400" dirty="0">
                <a:solidFill>
                  <a:srgbClr val="FFB84D"/>
                </a:solidFill>
                <a:latin typeface="Inter"/>
              </a:rPr>
              <a:t>Data Analytics</a:t>
            </a:r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30000"/>
                </a:srgbClr>
              </a:gs>
              <a:gs pos="100000">
                <a:srgbClr val="5B8DEF">
                  <a:alpha val="1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6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EDE8"/>
                </a:solidFill>
                <a:latin typeface="Raleway"/>
              </a:rPr>
              <a:t>Who We Are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D0E8"/>
                </a:solidFill>
                <a:latin typeface="Inter"/>
              </a:rPr>
              <a:t>AI Works is a dual-capability firm that combines premium audiobook production with cutting-edge AI solutions. We help businesses across industries harness the power of artificial intelligence — from voice technology and data analytics to full workflow automation.</a:t>
            </a:r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2194560" cy="1188720"/>
          </a:xfrm>
          <a:solidFill>
            <a:srgbClr val="1B2D45">
              <a:alpha val="7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64008" cy="1188720"/>
          </a:xfr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2651760"/>
            <a:ext cx="2194560" cy="1188720"/>
          </a:xfrm>
          <a:solidFill>
            <a:srgbClr val="1B2D45">
              <a:alpha val="7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64008" cy="1188720"/>
          </a:xfrm>
          <a:solidFill>
            <a:srgbClr val="7C5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9829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5CFC"/>
                </a:solidFill>
                <a:latin typeface="Raleway"/>
              </a:rPr>
              <a:t>All</a:t>
            </a:r>
          </a:p>
        </p:txBody>
      </p:sp>
      <p:sp>
        <p:nvSpPr>
          <p:cNvPr id="12" name="Text 10"/>
          <p:cNvSpPr/>
          <p:nvPr/>
        </p:nvSpPr>
        <p:spPr>
          <a:xfrm>
            <a:off x="7512148" y="11201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E8"/>
                </a:solidFill>
                <a:latin typeface="Inter"/>
              </a:rPr>
              <a:t>Industries Served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" y="3182112"/>
            <a:ext cx="548640" cy="548640"/>
          </a:xfrm>
          <a:solidFill>
            <a:srgbClr val="5B8DE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Inter"/>
              </a:rPr>
              <a:t>Audiobook Services</a:t>
            </a:r>
          </a:p>
        </p:txBody>
      </p:sp>
      <p:sp>
        <p:nvSpPr>
          <p:cNvPr id="16" name="Text 13"/>
          <p:cNvSpPr/>
          <p:nvPr/>
        </p:nvSpPr>
        <p:spPr>
          <a:xfrm>
            <a:off x="15087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Professional narration, production &amp; publishing</a:t>
            </a:r>
          </a:p>
        </p:txBody>
      </p:sp>
      <p:sp>
        <p:nvSpPr>
          <p:cNvPr id="17" name="Shape 14"/>
          <p:cNvSpPr/>
          <p:nvPr/>
        </p:nvSpPr>
        <p:spPr>
          <a:xfrm>
            <a:off x="4462272" y="3182112"/>
            <a:ext cx="548640" cy="548640"/>
          </a:xfrm>
          <a:solidFill>
            <a:srgbClr val="7C5CF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918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DE8"/>
                </a:solidFill>
                <a:latin typeface="Inter"/>
              </a:rPr>
              <a:t>AI &amp; Automation</a:t>
            </a:r>
          </a:p>
        </p:txBody>
      </p:sp>
      <p:sp>
        <p:nvSpPr>
          <p:cNvPr id="20" name="Text 16"/>
          <p:cNvSpPr/>
          <p:nvPr/>
        </p:nvSpPr>
        <p:spPr>
          <a:xfrm>
            <a:off x="51663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Agents, workflows, analytics &amp; voice AI</a:t>
            </a:r>
          </a:p>
        </p:txBody>
      </p:sp>
      <p:sp>
        <p:nvSpPr>
          <p:cNvPr id="21" name="Shape 17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25000"/>
                </a:srgbClr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315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A92"/>
                </a:solidFill>
                <a:latin typeface="Inter"/>
              </a:rPr>
              <a:t>AI Works  |  Capabilities Overview</a:t>
            </a:r>
          </a:p>
        </p:txBody>
      </p:sp>
    </p:spTree>
    <p:extLst>
      <p:ext uri="{BB962C8B-B14F-4D97-AF65-F5344CB8AC3E}">
        <p14:creationId xmlns:p14="http://schemas.microsoft.com/office/powerpoint/2010/main" val="275187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EDE8"/>
                </a:solidFill>
                <a:latin typeface="Raleway"/>
              </a:rPr>
              <a:t>Audiobook Services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D0E8"/>
                </a:solidFill>
                <a:latin typeface="Inter"/>
              </a:rPr>
              <a:t>From manuscript to published audiobook — we handle the full production pipeline with AI-enhanced narration, quality assurance, and distribution support.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514600" cy="237744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0" y="2377440"/>
            <a:ext cx="731520" cy="731520"/>
          </a:xfrm>
          <a:solidFill>
            <a:srgbClr val="5B8DE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AI Narration</a:t>
            </a:r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Natural-sounding AI voices with custom tone, pace, and character styling</a:t>
            </a:r>
          </a:p>
        </p:txBody>
      </p:sp>
      <p:sp>
        <p:nvSpPr>
          <p:cNvPr id="10" name="Shape 7"/>
          <p:cNvSpPr/>
          <p:nvPr/>
        </p:nvSpPr>
        <p:spPr>
          <a:xfrm>
            <a:off x="3520440" y="2103120"/>
            <a:ext cx="2514600" cy="237744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2377440"/>
            <a:ext cx="731520" cy="731520"/>
          </a:xfrm>
          <a:solidFill>
            <a:srgbClr val="7C5CFC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514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Full Production</a:t>
            </a:r>
          </a:p>
        </p:txBody>
      </p:sp>
      <p:sp>
        <p:nvSpPr>
          <p:cNvPr id="14" name="Text 10"/>
          <p:cNvSpPr/>
          <p:nvPr/>
        </p:nvSpPr>
        <p:spPr>
          <a:xfrm>
            <a:off x="3703320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End-to-end editing, mastering, chapter splitting, and metadata tagging</a:t>
            </a:r>
          </a:p>
        </p:txBody>
      </p:sp>
      <p:sp>
        <p:nvSpPr>
          <p:cNvPr id="15" name="Shape 11"/>
          <p:cNvSpPr/>
          <p:nvPr/>
        </p:nvSpPr>
        <p:spPr>
          <a:xfrm>
            <a:off x="6309360" y="2103120"/>
            <a:ext cx="2514600" cy="237744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32320" y="2377440"/>
            <a:ext cx="731520" cy="731520"/>
          </a:xfrm>
          <a:solidFill>
            <a:srgbClr val="00D4A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514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Distribution</a:t>
            </a:r>
          </a:p>
        </p:txBody>
      </p:sp>
      <p:sp>
        <p:nvSpPr>
          <p:cNvPr id="19" name="Text 14"/>
          <p:cNvSpPr/>
          <p:nvPr/>
        </p:nvSpPr>
        <p:spPr>
          <a:xfrm>
            <a:off x="6492240" y="3611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Publishing to Audible, Apple Books, Spotify, and all major platforms</a:t>
            </a:r>
          </a:p>
        </p:txBody>
      </p:sp>
      <p:sp>
        <p:nvSpPr>
          <p:cNvPr id="20" name="Shape 15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25000"/>
                </a:srgbClr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315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A92"/>
                </a:solidFill>
                <a:latin typeface="Inter"/>
              </a:rPr>
              <a:t>AI Works  |  Capabilities Overview</a:t>
            </a:r>
          </a:p>
        </p:txBody>
      </p:sp>
    </p:spTree>
    <p:extLst>
      <p:ext uri="{BB962C8B-B14F-4D97-AF65-F5344CB8AC3E}">
        <p14:creationId xmlns:p14="http://schemas.microsoft.com/office/powerpoint/2010/main" val="66518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EDE8"/>
                </a:solidFill>
                <a:latin typeface="Raleway"/>
              </a:rPr>
              <a:t>AI &amp; Automation Services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150876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64008" cy="1508760"/>
          </a:xfrm>
          <a:solidFill>
            <a:srgbClr val="5B8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640080" cy="640080"/>
          </a:xfrm>
          <a:solidFill>
            <a:srgbClr val="5B8DE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7190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Agentic AI</a:t>
            </a:r>
          </a:p>
        </p:txBody>
      </p:sp>
      <p:sp>
        <p:nvSpPr>
          <p:cNvPr id="9" name="Text 6"/>
          <p:cNvSpPr/>
          <p:nvPr/>
        </p:nvSpPr>
        <p:spPr>
          <a:xfrm>
            <a:off x="182880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Autonomous AI agents that handle complex tasks end-to-end — from research to execution</a:t>
            </a:r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657600" cy="150876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64008" cy="1508760"/>
          </a:xfrm>
          <a:solidFill>
            <a:srgbClr val="7C5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0" y="1600200"/>
            <a:ext cx="640080" cy="640080"/>
          </a:xfrm>
          <a:solidFill>
            <a:srgbClr val="7C5CF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7190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Voice AI Support</a:t>
            </a:r>
          </a:p>
        </p:txBody>
      </p:sp>
      <p:sp>
        <p:nvSpPr>
          <p:cNvPr id="15" name="Text 11"/>
          <p:cNvSpPr/>
          <p:nvPr/>
        </p:nvSpPr>
        <p:spPr>
          <a:xfrm>
            <a:off x="585216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24/7 intelligent voice assistants for customer service, intake, and support workflows</a:t>
            </a:r>
          </a:p>
        </p:txBody>
      </p:sp>
      <p:sp>
        <p:nvSpPr>
          <p:cNvPr id="16" name="Shape 12"/>
          <p:cNvSpPr/>
          <p:nvPr/>
        </p:nvSpPr>
        <p:spPr>
          <a:xfrm>
            <a:off x="731520" y="3063240"/>
            <a:ext cx="3657600" cy="150876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3063240"/>
            <a:ext cx="64008" cy="1508760"/>
          </a:xfr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05840" y="3383280"/>
            <a:ext cx="640080" cy="640080"/>
          </a:xfr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5021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Data Analytics</a:t>
            </a:r>
          </a:p>
        </p:txBody>
      </p:sp>
      <p:sp>
        <p:nvSpPr>
          <p:cNvPr id="21" name="Text 16"/>
          <p:cNvSpPr/>
          <p:nvPr/>
        </p:nvSpPr>
        <p:spPr>
          <a:xfrm>
            <a:off x="182880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Automated data pipelines, dashboards, and insights that drive smarter business decisions</a:t>
            </a:r>
          </a:p>
        </p:txBody>
      </p:sp>
      <p:sp>
        <p:nvSpPr>
          <p:cNvPr id="22" name="Shape 17"/>
          <p:cNvSpPr/>
          <p:nvPr/>
        </p:nvSpPr>
        <p:spPr>
          <a:xfrm>
            <a:off x="4754880" y="3063240"/>
            <a:ext cx="3657600" cy="1508760"/>
          </a:xfrm>
          <a:solidFill>
            <a:srgbClr val="1B2D45">
              <a:alpha val="6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3063240"/>
            <a:ext cx="64008" cy="1508760"/>
          </a:xfrm>
          <a:solidFill>
            <a:srgbClr val="FFB8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29200" y="3383280"/>
            <a:ext cx="640080" cy="640080"/>
          </a:xfrm>
          <a:solidFill>
            <a:srgbClr val="FFB84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350215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521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E8"/>
                </a:solidFill>
                <a:latin typeface="Inter"/>
              </a:rPr>
              <a:t>Workflow Automation</a:t>
            </a:r>
          </a:p>
        </p:txBody>
      </p:sp>
      <p:sp>
        <p:nvSpPr>
          <p:cNvPr id="27" name="Text 21"/>
          <p:cNvSpPr/>
          <p:nvPr/>
        </p:nvSpPr>
        <p:spPr>
          <a:xfrm>
            <a:off x="585216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Streamline repetitive processes across departments with custom AI-powered workflows</a:t>
            </a:r>
          </a:p>
        </p:txBody>
      </p:sp>
      <p:sp>
        <p:nvSpPr>
          <p:cNvPr id="28" name="Shape 22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25000"/>
                </a:srgbClr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315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A92"/>
                </a:solidFill>
                <a:latin typeface="Inter"/>
              </a:rPr>
              <a:t>AI Works  |  Capabilities Overview</a:t>
            </a:r>
          </a:p>
        </p:txBody>
      </p:sp>
    </p:spTree>
    <p:extLst>
      <p:ext uri="{BB962C8B-B14F-4D97-AF65-F5344CB8AC3E}">
        <p14:creationId xmlns:p14="http://schemas.microsoft.com/office/powerpoint/2010/main" val="118815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EDE8"/>
                </a:solidFill>
                <a:latin typeface="Raleway"/>
              </a:rPr>
              <a:t>How We Work</a:t>
            </a:r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D0E8"/>
                </a:solidFill>
                <a:latin typeface="Inter"/>
              </a:rPr>
              <a:t>A proven four-step engagement model designed for speed and impact.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74520" cy="2560320"/>
          </a:xfrm>
          <a:solidFill>
            <a:srgbClr val="1B2D4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8DEF"/>
                </a:solidFill>
                <a:latin typeface="Raleway"/>
              </a:rPr>
              <a:t>01</a:t>
            </a:r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Inter"/>
              </a:rPr>
              <a:t>Discovery</a:t>
            </a:r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We map your workflows, pain points, and strategic goals</a:t>
            </a: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83464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51760" y="1828800"/>
            <a:ext cx="1874520" cy="2560320"/>
          </a:xfrm>
          <a:solidFill>
            <a:srgbClr val="1B2D4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8892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5CFC"/>
                </a:solidFill>
                <a:latin typeface="Raleway"/>
              </a:rPr>
              <a:t>02</a:t>
            </a:r>
          </a:p>
        </p:txBody>
      </p:sp>
      <p:sp>
        <p:nvSpPr>
          <p:cNvPr id="11" name="Text 8"/>
          <p:cNvSpPr/>
          <p:nvPr/>
        </p:nvSpPr>
        <p:spPr>
          <a:xfrm>
            <a:off x="27889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Inter"/>
              </a:rPr>
              <a:t>Design</a:t>
            </a:r>
          </a:p>
        </p:txBody>
      </p:sp>
      <p:sp>
        <p:nvSpPr>
          <p:cNvPr id="12" name="Text 9"/>
          <p:cNvSpPr/>
          <p:nvPr/>
        </p:nvSpPr>
        <p:spPr>
          <a:xfrm>
            <a:off x="278892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Architect custom AI solutions tailored to your processes</a:t>
            </a: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3464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6320" y="1828800"/>
            <a:ext cx="1874520" cy="2560320"/>
          </a:xfrm>
          <a:solidFill>
            <a:srgbClr val="1B2D4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834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Raleway"/>
              </a:rPr>
              <a:t>03</a:t>
            </a:r>
          </a:p>
        </p:txBody>
      </p:sp>
      <p:sp>
        <p:nvSpPr>
          <p:cNvPr id="16" name="Text 12"/>
          <p:cNvSpPr/>
          <p:nvPr/>
        </p:nvSpPr>
        <p:spPr>
          <a:xfrm>
            <a:off x="49834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Inter"/>
              </a:rPr>
              <a:t>Deploy</a:t>
            </a:r>
          </a:p>
        </p:txBody>
      </p:sp>
      <p:sp>
        <p:nvSpPr>
          <p:cNvPr id="17" name="Text 13"/>
          <p:cNvSpPr/>
          <p:nvPr/>
        </p:nvSpPr>
        <p:spPr>
          <a:xfrm>
            <a:off x="498348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Build, test, and launch with minimal disruption</a:t>
            </a: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834640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040880" y="1828800"/>
            <a:ext cx="1874520" cy="2560320"/>
          </a:xfrm>
          <a:solidFill>
            <a:srgbClr val="1B2D4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1780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B84D"/>
                </a:solidFill>
                <a:latin typeface="Raleway"/>
              </a:rPr>
              <a:t>04</a:t>
            </a:r>
          </a:p>
        </p:txBody>
      </p:sp>
      <p:sp>
        <p:nvSpPr>
          <p:cNvPr id="21" name="Text 16"/>
          <p:cNvSpPr/>
          <p:nvPr/>
        </p:nvSpPr>
        <p:spPr>
          <a:xfrm>
            <a:off x="71780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DE8"/>
                </a:solidFill>
                <a:latin typeface="Inter"/>
              </a:rPr>
              <a:t>Optimize</a:t>
            </a:r>
          </a:p>
        </p:txBody>
      </p:sp>
      <p:sp>
        <p:nvSpPr>
          <p:cNvPr id="22" name="Text 17"/>
          <p:cNvSpPr/>
          <p:nvPr/>
        </p:nvSpPr>
        <p:spPr>
          <a:xfrm>
            <a:off x="717804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D0E8"/>
                </a:solidFill>
                <a:latin typeface="Inter"/>
              </a:rPr>
              <a:t>Continuous monitoring, tuning, and scaling</a:t>
            </a:r>
          </a:p>
        </p:txBody>
      </p:sp>
      <p:sp>
        <p:nvSpPr>
          <p:cNvPr id="23" name="Shape 18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25000"/>
                </a:srgbClr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3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EDE8"/>
                </a:solidFill>
                <a:latin typeface="Raleway"/>
              </a:rPr>
              <a:t>Why AI Works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Inter"/>
              </a:rPr>
              <a:t>Cross-Industry Expertise</a:t>
            </a:r>
          </a:p>
        </p:txBody>
      </p:sp>
      <p:sp>
        <p:nvSpPr>
          <p:cNvPr id="6" name="Text 3"/>
          <p:cNvSpPr/>
          <p:nvPr/>
        </p:nvSpPr>
        <p:spPr>
          <a:xfrm>
            <a:off x="1188720" y="1554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0E8"/>
                </a:solidFill>
                <a:latin typeface="Inter"/>
              </a:rPr>
              <a:t>Deep experience across healthcare, finance, media, retail, and more — we understand your domain.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FC"/>
                </a:solidFill>
                <a:latin typeface="Inter"/>
              </a:rPr>
              <a:t>End-to-End Delivery</a:t>
            </a:r>
          </a:p>
        </p:txBody>
      </p:sp>
      <p:sp>
        <p:nvSpPr>
          <p:cNvPr id="9" name="Text 5"/>
          <p:cNvSpPr/>
          <p:nvPr/>
        </p:nvSpPr>
        <p:spPr>
          <a:xfrm>
            <a:off x="1188720" y="2423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0E8"/>
                </a:solidFill>
                <a:latin typeface="Inter"/>
              </a:rPr>
              <a:t>From strategy to production to ongoing support, we own the full lifecycle so you can focus on growth.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Inter"/>
              </a:rPr>
              <a:t>AI-Native Approach</a:t>
            </a:r>
          </a:p>
        </p:txBody>
      </p:sp>
      <p:sp>
        <p:nvSpPr>
          <p:cNvPr id="12" name="Text 7"/>
          <p:cNvSpPr/>
          <p:nvPr/>
        </p:nvSpPr>
        <p:spPr>
          <a:xfrm>
            <a:off x="1188720" y="3291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0E8"/>
                </a:solidFill>
                <a:latin typeface="Inter"/>
              </a:rPr>
              <a:t>Every solution is built with AI at the core — not bolted on as an afterthought.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  <a:latin typeface="Inter"/>
              </a:rPr>
              <a:t>Scalable &amp; Adaptive</a:t>
            </a:r>
          </a:p>
        </p:txBody>
      </p:sp>
      <p:sp>
        <p:nvSpPr>
          <p:cNvPr id="15" name="Text 9"/>
          <p:cNvSpPr/>
          <p:nvPr/>
        </p:nvSpPr>
        <p:spPr>
          <a:xfrm>
            <a:off x="1188720" y="4160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0E8"/>
                </a:solidFill>
                <a:latin typeface="Inter"/>
              </a:rPr>
              <a:t>Our systems grow with you. Start small, prove value, then expand across the organization.</a:t>
            </a:r>
          </a:p>
        </p:txBody>
      </p:sp>
      <p:sp>
        <p:nvSpPr>
          <p:cNvPr id="16" name="Shape 10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25000"/>
                </a:srgbClr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3152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A92"/>
                </a:solidFill>
                <a:latin typeface="Inter"/>
              </a:rPr>
              <a:t>AI Works  |  Capabilities Overview</a:t>
            </a:r>
          </a:p>
        </p:txBody>
      </p:sp>
    </p:spTree>
    <p:extLst>
      <p:ext uri="{BB962C8B-B14F-4D97-AF65-F5344CB8AC3E}">
        <p14:creationId xmlns:p14="http://schemas.microsoft.com/office/powerpoint/2010/main" val="2662103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2011680"/>
          </a:xfrm>
          <a:gradFill>
            <a:gsLst>
              <a:gs pos="0">
                <a:srgbClr val="5B8DEF"/>
              </a:gs>
              <a:gs pos="100000">
                <a:srgbClr val="7C5CFC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73152"/>
          </a:xfrm>
          <a:gradFill>
            <a:gsLst>
              <a:gs pos="0">
                <a:srgbClr val="5B8DEF"/>
              </a:gs>
              <a:gs pos="50000">
                <a:srgbClr val="7C5CFC"/>
              </a:gs>
              <a:gs pos="100000">
                <a:srgbClr val="00D4A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0EDE8"/>
                </a:solidFill>
                <a:latin typeface="Raleway"/>
              </a:rPr>
              <a:t>Let’s Build Something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5B8DEF"/>
                </a:solidFill>
                <a:latin typeface="Raleway"/>
              </a:rPr>
              <a:t>Intelligent Together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D0E8"/>
                </a:solidFill>
                <a:latin typeface="Inter"/>
              </a:rPr>
              <a:t>Ready to transform your business with AI? Let’s start a conversation.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8"/>
                </a:solidFill>
                <a:latin typeface="Inter"/>
              </a:rPr>
              <a:t>pmo@rian.io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57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DE8"/>
                </a:solidFill>
                <a:latin typeface="Inter"/>
              </a:rPr>
              <a:t>ai-works.com</a:t>
            </a:r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gradFill>
            <a:gsLst>
              <a:gs pos="0">
                <a:srgbClr val="00D4AA">
                  <a:alpha val="25000"/>
                </a:srgbClr>
              </a:gs>
              <a:gs pos="100000">
                <a:srgbClr val="5B8DEF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40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75111407600]">
  <a:themeElements>
    <a:clrScheme name="AI Works">
      <a:dk1>
        <a:srgbClr val="F0EDE8"/>
      </a:dk1>
      <a:lt1>
        <a:srgbClr val="0D1B2A"/>
      </a:lt1>
      <a:dk2>
        <a:srgbClr val="B8C4D4"/>
      </a:dk2>
      <a:lt2>
        <a:srgbClr val="1B2D45"/>
      </a:lt2>
      <a:accent1>
        <a:srgbClr val="5B8DEF"/>
      </a:accent1>
      <a:accent2>
        <a:srgbClr val="7C5CFC"/>
      </a:accent2>
      <a:accent3>
        <a:srgbClr val="00D4AA"/>
      </a:accent3>
      <a:accent4>
        <a:srgbClr val="FF7B54"/>
      </a:accent4>
      <a:accent5>
        <a:srgbClr val="FFB84D"/>
      </a:accent5>
      <a:accent6>
        <a:srgbClr val="E8607A"/>
      </a:accent6>
      <a:hlink>
        <a:srgbClr val="0563C1"/>
      </a:hlink>
      <a:folHlink>
        <a:srgbClr val="954F72"/>
      </a:folHlink>
    </a:clrScheme>
    <a:fontScheme name="AI Works">
      <a:majorFont>
        <a:latin typeface="Ralew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1CEF38-193E-8446-AD3F-1DB342B1FE1F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406</Words>
  <Application>Microsoft Macintosh PowerPoint</Application>
  <PresentationFormat>On-screen Show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Inter</vt:lpstr>
      <vt:lpstr>Raleway</vt:lpstr>
      <vt:lpstr>Office Theme</vt:lpstr>
      <vt:lpstr>Office Theme [1775111407600]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Works — Capabilities Overview</dc:title>
  <dc:subject>PptxGenJS Presentation</dc:subject>
  <dc:creator>AI Works</dc:creator>
  <cp:lastModifiedBy>Shyam Sunder</cp:lastModifiedBy>
  <cp:revision>4</cp:revision>
  <dcterms:created xsi:type="dcterms:W3CDTF">2026-04-02T05:52:46Z</dcterms:created>
  <dcterms:modified xsi:type="dcterms:W3CDTF">2026-04-07T06:21:03Z</dcterms:modified>
</cp:coreProperties>
</file>